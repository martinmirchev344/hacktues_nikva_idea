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T Mono" panose="02060509020205020204" pitchFamily="49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971675" y="2190750"/>
            <a:ext cx="56578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250" dirty="0">
                <a:solidFill>
                  <a:schemeClr val="bg1"/>
                </a:solidFill>
                <a:latin typeface="PT Mono" panose="020F0502020204030204" pitchFamily="49" charset="0"/>
                <a:ea typeface="Calibri"/>
                <a:cs typeface="Calibri"/>
                <a:sym typeface="Calibri"/>
              </a:rPr>
              <a:t>Mimical</a:t>
            </a:r>
            <a:endParaRPr sz="5250" dirty="0">
              <a:solidFill>
                <a:schemeClr val="bg1"/>
              </a:solidFill>
              <a:latin typeface="PT Mono" panose="020F05020202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857500" y="2952750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bg-BG" sz="3750" dirty="0">
                <a:solidFill>
                  <a:schemeClr val="bg1"/>
                </a:solidFill>
                <a:latin typeface="PT Mono" panose="02060509020205020204" pitchFamily="49" charset="0"/>
                <a:ea typeface="Calibri"/>
                <a:cs typeface="Calibri"/>
                <a:sym typeface="Calibri"/>
              </a:rPr>
              <a:t>Никва идея</a:t>
            </a:r>
            <a:endParaRPr sz="3750" dirty="0">
              <a:solidFill>
                <a:schemeClr val="bg1"/>
              </a:solidFill>
              <a:latin typeface="PT Mono" panose="0206050902020502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A green circle with lines and circles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8537" y="-4374026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 descr="A green circle with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D78F57-B44B-7C2E-4FB5-2D7FB843E7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5753" y="-1"/>
            <a:ext cx="2132561" cy="15424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D8219B-CF9A-71F0-A852-0895FC7336E6}"/>
              </a:ext>
            </a:extLst>
          </p:cNvPr>
          <p:cNvSpPr txBox="1"/>
          <p:nvPr/>
        </p:nvSpPr>
        <p:spPr>
          <a:xfrm>
            <a:off x="1418294" y="1953671"/>
            <a:ext cx="66347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PT Mono" panose="02060509020205020204" pitchFamily="49" charset="0"/>
              </a:rPr>
              <a:t>Какво ако не можете да общувате свободно с околните? Това е ежедневие за много хора с увреждания на слуха и говора. За тях жестомимичният език е основен начин за комуникация, но много малко хора го знаят. Това води до изолация и затруднено общуване.</a:t>
            </a:r>
            <a:br>
              <a:rPr lang="ru-RU" dirty="0">
                <a:solidFill>
                  <a:schemeClr val="bg1"/>
                </a:solidFill>
                <a:latin typeface="PT Mono" panose="02060509020205020204" pitchFamily="49" charset="0"/>
              </a:rPr>
            </a:br>
            <a:br>
              <a:rPr lang="ru-RU" dirty="0">
                <a:solidFill>
                  <a:schemeClr val="bg1"/>
                </a:solidFill>
                <a:latin typeface="PT Mono" panose="02060509020205020204" pitchFamily="49" charset="0"/>
              </a:rPr>
            </a:br>
            <a:r>
              <a:rPr lang="ru-RU" dirty="0">
                <a:solidFill>
                  <a:schemeClr val="bg1"/>
                </a:solidFill>
                <a:latin typeface="PT Mono" panose="02060509020205020204" pitchFamily="49" charset="0"/>
              </a:rPr>
              <a:t>Съществуват приложения за учене, но много от тях са скъпи, ограничени и не правят езика достатъчно достъпен за всички.</a:t>
            </a:r>
            <a:endParaRPr lang="bg-BG" dirty="0">
              <a:solidFill>
                <a:schemeClr val="bg1"/>
              </a:solidFill>
              <a:latin typeface="PT Mono" panose="0206050902020502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A yellow circle on a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194438" y="1613699"/>
            <a:ext cx="4634862" cy="282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ru-RU" sz="18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Да направим жестомимичния език достъпен за всеки, като премахнем част от комуникационните бариери и дадем на хората лесен, интерактивен и мотивиращ начин да го учат и практикуват.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" descr="A green circle with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решение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" descr="A black and gold circle with a dot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TextBox 200"/>
          <p:cNvSpPr txBox="1"/>
          <p:nvPr/>
        </p:nvSpPr>
        <p:spPr>
          <a:xfrm>
            <a:off x="1412081" y="1756142"/>
            <a:ext cx="5678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b="1" dirty="0">
                <a:solidFill>
                  <a:schemeClr val="bg1"/>
                </a:solidFill>
                <a:latin typeface="PT Mono"/>
              </a:rPr>
              <a:t>Mimical</a:t>
            </a:r>
          </a:p>
          <a:p>
            <a:r>
              <a:rPr lang="bg-BG" sz="1400" dirty="0">
                <a:solidFill>
                  <a:schemeClr val="bg1"/>
                </a:solidFill>
                <a:latin typeface="PT Mono"/>
              </a:rPr>
              <a:t>Мобилно приложение за учене на жестомимичен език (ASL), изградено с Expo React Native и Django.</a:t>
            </a:r>
          </a:p>
          <a:p>
            <a:endParaRPr lang="bg-BG" dirty="0"/>
          </a:p>
          <a:p>
            <a:r>
              <a:rPr lang="bg-BG" sz="1400" dirty="0">
                <a:solidFill>
                  <a:srgbClr val="4ADE80"/>
                </a:solidFill>
                <a:latin typeface="PT Mono"/>
              </a:rPr>
              <a:t>→ Безплатно и достъпно за всеки</a:t>
            </a:r>
          </a:p>
          <a:p>
            <a:r>
              <a:rPr lang="bg-BG" sz="1400" dirty="0">
                <a:solidFill>
                  <a:srgbClr val="4ADE80"/>
                </a:solidFill>
                <a:latin typeface="PT Mono"/>
              </a:rPr>
              <a:t>→ Верификация на жестове с AI модел</a:t>
            </a:r>
          </a:p>
          <a:p>
            <a:r>
              <a:rPr lang="bg-BG" sz="1400" dirty="0">
                <a:solidFill>
                  <a:srgbClr val="4ADE80"/>
                </a:solidFill>
                <a:latin typeface="PT Mono"/>
              </a:rPr>
              <a:t>→ Уроци, XP система и</a:t>
            </a:r>
            <a:r>
              <a:rPr lang="en-US" dirty="0">
                <a:solidFill>
                  <a:srgbClr val="4ADE80"/>
                </a:solidFill>
                <a:latin typeface="PT Mono"/>
              </a:rPr>
              <a:t> </a:t>
            </a:r>
            <a:r>
              <a:rPr lang="ru-RU" dirty="0">
                <a:solidFill>
                  <a:srgbClr val="4ADE80"/>
                </a:solidFill>
                <a:latin typeface="PT Mono"/>
              </a:rPr>
              <a:t>обратна връзка в реално време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A green circle with a black background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circular logo with a black background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TextBox 201"/>
          <p:cNvSpPr txBox="1"/>
          <p:nvPr/>
        </p:nvSpPr>
        <p:spPr>
          <a:xfrm>
            <a:off x="600000" y="1200000"/>
            <a:ext cx="780000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1. Регистрация и вход</a:t>
            </a:r>
          </a:p>
          <a:p>
            <a:r>
              <a:rPr lang="bg-BG" sz="1300" dirty="0">
                <a:solidFill>
                  <a:schemeClr val="bg1"/>
                </a:solidFill>
                <a:latin typeface="PT Mono"/>
              </a:rPr>
              <a:t>Потребителят създава профил.</a:t>
            </a:r>
          </a:p>
          <a:p>
            <a:endParaRPr lang="bg-BG" sz="1300" dirty="0">
              <a:solidFill>
                <a:schemeClr val="bg1"/>
              </a:solidFill>
              <a:latin typeface="PT Mono"/>
            </a:endParaRPr>
          </a:p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2. Избор на урок</a:t>
            </a:r>
          </a:p>
          <a:p>
            <a:r>
              <a:rPr lang="bg-BG" sz="1300" dirty="0">
                <a:solidFill>
                  <a:schemeClr val="bg1"/>
                </a:solidFill>
                <a:latin typeface="PT Mono"/>
              </a:rPr>
              <a:t>Азбука, поздрави, числа, цветове, чувства и още.</a:t>
            </a:r>
          </a:p>
          <a:p>
            <a:endParaRPr lang="bg-BG" sz="1300" dirty="0">
              <a:solidFill>
                <a:schemeClr val="bg1"/>
              </a:solidFill>
              <a:latin typeface="PT Mono"/>
            </a:endParaRPr>
          </a:p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3. Практика и верификация</a:t>
            </a:r>
          </a:p>
          <a:p>
            <a:r>
              <a:rPr lang="bg-BG" sz="1300" dirty="0">
                <a:solidFill>
                  <a:schemeClr val="bg1"/>
                </a:solidFill>
                <a:latin typeface="PT Mono"/>
              </a:rPr>
              <a:t>Потребителят записва жест → AI модел го верифицира.</a:t>
            </a:r>
          </a:p>
          <a:p>
            <a:endParaRPr lang="bg-BG" sz="1300" dirty="0">
              <a:solidFill>
                <a:schemeClr val="bg1"/>
              </a:solidFill>
              <a:latin typeface="PT Mono"/>
            </a:endParaRPr>
          </a:p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4. XP и прогрес</a:t>
            </a:r>
          </a:p>
          <a:p>
            <a:r>
              <a:rPr lang="bg-BG" sz="1300" dirty="0">
                <a:solidFill>
                  <a:schemeClr val="bg1"/>
                </a:solidFill>
                <a:latin typeface="PT Mono"/>
              </a:rPr>
              <a:t>Стрийкове, XP точки и класация мотивират редовната практика.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6" descr="A black circle with yellow line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descr="A green circle with lines and dots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lang="en-US" sz="52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5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9A138D19-B4BB-2005-FA20-C1BEDD2AB0D8}"/>
              </a:ext>
            </a:extLst>
          </p:cNvPr>
          <p:cNvSpPr/>
          <p:nvPr/>
        </p:nvSpPr>
        <p:spPr>
          <a:xfrm>
            <a:off x="3913529" y="3457817"/>
            <a:ext cx="2403413" cy="12464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F7F01A-0CFD-9D89-CCF7-223A07DE6544}"/>
              </a:ext>
            </a:extLst>
          </p:cNvPr>
          <p:cNvSpPr/>
          <p:nvPr/>
        </p:nvSpPr>
        <p:spPr>
          <a:xfrm>
            <a:off x="2651051" y="2679405"/>
            <a:ext cx="2076893" cy="109904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A2FA72-25C7-B148-C565-4D19BAD28949}"/>
              </a:ext>
            </a:extLst>
          </p:cNvPr>
          <p:cNvSpPr/>
          <p:nvPr/>
        </p:nvSpPr>
        <p:spPr>
          <a:xfrm>
            <a:off x="1077433" y="3351404"/>
            <a:ext cx="2268279" cy="136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4" name="Google Shape;84;p7" descr="A black circle with yellow line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 descr="A screen shot of a clock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TextBox 202"/>
          <p:cNvSpPr txBox="1"/>
          <p:nvPr/>
        </p:nvSpPr>
        <p:spPr>
          <a:xfrm>
            <a:off x="600000" y="1300000"/>
            <a:ext cx="80000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Frontend</a:t>
            </a:r>
            <a:r>
              <a:rPr lang="bg-BG" sz="1400" dirty="0">
                <a:solidFill>
                  <a:schemeClr val="bg1"/>
                </a:solidFill>
                <a:latin typeface="PT Mono"/>
              </a:rPr>
              <a:t>         Expo, React Native, TypeScript, Expo Router</a:t>
            </a:r>
          </a:p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Backend</a:t>
            </a:r>
            <a:r>
              <a:rPr lang="bg-BG" sz="1400" dirty="0">
                <a:solidFill>
                  <a:schemeClr val="bg1"/>
                </a:solidFill>
                <a:latin typeface="PT Mono"/>
              </a:rPr>
              <a:t>          Django, Django REST Framework, SQLite</a:t>
            </a:r>
          </a:p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AI / ML</a:t>
            </a:r>
            <a:r>
              <a:rPr lang="bg-BG" sz="1400" dirty="0">
                <a:solidFill>
                  <a:schemeClr val="bg1"/>
                </a:solidFill>
                <a:latin typeface="PT Mono"/>
              </a:rPr>
              <a:t>          MediaPipe Holistic, PyTorch, HuggingFace</a:t>
            </a:r>
          </a:p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Computer Vision</a:t>
            </a:r>
            <a:r>
              <a:rPr lang="bg-BG" sz="1400" dirty="0">
                <a:solidFill>
                  <a:schemeClr val="bg1"/>
                </a:solidFill>
                <a:latin typeface="PT Mono"/>
              </a:rPr>
              <a:t>  OpenCV, NumPy</a:t>
            </a:r>
          </a:p>
          <a:p>
            <a:r>
              <a:rPr lang="bg-BG" sz="1500" b="1" dirty="0">
                <a:solidFill>
                  <a:srgbClr val="4ADE80"/>
                </a:solidFill>
                <a:latin typeface="PT Mono"/>
              </a:rPr>
              <a:t>Auth</a:t>
            </a:r>
            <a:r>
              <a:rPr lang="bg-BG" sz="1400" dirty="0">
                <a:solidFill>
                  <a:schemeClr val="bg1"/>
                </a:solidFill>
                <a:latin typeface="PT Mono"/>
              </a:rPr>
              <a:t>              DRF Token Authentication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03D86B-17E4-B9C6-CC91-D268E14DF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9134" y="2770299"/>
            <a:ext cx="1363658" cy="950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291F6A-1935-24F6-DADA-9E9EDF446C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4414" y="2713058"/>
            <a:ext cx="3312886" cy="10653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D9C152-6757-5781-2FF5-5A6D6BD5A8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1187" y="3466187"/>
            <a:ext cx="1742762" cy="11327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A7A587-C9CD-AD1E-983F-07AEC2A3D8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785" y="3184841"/>
            <a:ext cx="2363574" cy="1574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8" descr="A green circle with a black background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4C6FC8-2086-F251-9B12-31601305A640}"/>
              </a:ext>
            </a:extLst>
          </p:cNvPr>
          <p:cNvSpPr txBox="1"/>
          <p:nvPr/>
        </p:nvSpPr>
        <p:spPr>
          <a:xfrm>
            <a:off x="1226287" y="1205023"/>
            <a:ext cx="55724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bg1"/>
                </a:solidFill>
                <a:latin typeface="PT Mono" panose="02060509020205020204" pitchFamily="49" charset="0"/>
              </a:rPr>
              <a:t>Ден 1 – измисляне на идея</a:t>
            </a:r>
          </a:p>
          <a:p>
            <a:endParaRPr lang="bg-BG" dirty="0">
              <a:solidFill>
                <a:schemeClr val="bg1"/>
              </a:solidFill>
              <a:latin typeface="PT Mono" panose="02060509020205020204" pitchFamily="49" charset="0"/>
            </a:endParaRPr>
          </a:p>
          <a:p>
            <a:r>
              <a:rPr lang="bg-BG" dirty="0">
                <a:solidFill>
                  <a:schemeClr val="bg1"/>
                </a:solidFill>
                <a:latin typeface="PT Mono" panose="02060509020205020204" pitchFamily="49" charset="0"/>
              </a:rPr>
              <a:t>Ден 2 – стартиране и разработване на проекта</a:t>
            </a:r>
          </a:p>
          <a:p>
            <a:endParaRPr lang="bg-BG" dirty="0">
              <a:solidFill>
                <a:schemeClr val="bg1"/>
              </a:solidFill>
              <a:latin typeface="PT Mono" panose="02060509020205020204" pitchFamily="49" charset="0"/>
            </a:endParaRPr>
          </a:p>
          <a:p>
            <a:r>
              <a:rPr lang="bg-BG" dirty="0">
                <a:solidFill>
                  <a:schemeClr val="bg1"/>
                </a:solidFill>
                <a:latin typeface="PT Mono" panose="02060509020205020204" pitchFamily="49" charset="0"/>
              </a:rPr>
              <a:t>Ден 3 – подобряване на </a:t>
            </a:r>
            <a:r>
              <a:rPr lang="en-US" dirty="0">
                <a:solidFill>
                  <a:schemeClr val="bg1"/>
                </a:solidFill>
                <a:latin typeface="PT Mono" panose="02060509020205020204" pitchFamily="49" charset="0"/>
              </a:rPr>
              <a:t>UI </a:t>
            </a:r>
            <a:r>
              <a:rPr lang="bg-BG" dirty="0">
                <a:solidFill>
                  <a:schemeClr val="bg1"/>
                </a:solidFill>
                <a:latin typeface="PT Mono" panose="02060509020205020204" pitchFamily="49" charset="0"/>
              </a:rPr>
              <a:t>и поправяне на модела </a:t>
            </a:r>
            <a:endParaRPr lang="en-GB" dirty="0">
              <a:solidFill>
                <a:schemeClr val="bg1"/>
              </a:solidFill>
              <a:latin typeface="PT Mono" panose="0206050902020502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преживяване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100138" y="1400175"/>
            <a:ext cx="5576888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bg-BG" sz="18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Сблъскахме се с доста трудности, които разрешихме и в крайна сметка се научихме как да направим мобилно приложение с интегиране на </a:t>
            </a:r>
            <a:r>
              <a:rPr lang="en-US" sz="18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AI</a:t>
            </a:r>
            <a:r>
              <a:rPr lang="bg-BG" sz="18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9" descr="A black and gold circle with black lines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descr="A circular object with a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AB53A0-AE1E-07E3-427B-540A9B865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20" y="1209675"/>
            <a:ext cx="1316850" cy="15790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325</Words>
  <Application>Microsoft Office PowerPoint</Application>
  <PresentationFormat>On-screen Show (16:9)</PresentationFormat>
  <Paragraphs>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PT Mono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Мартин М. Мирчев</cp:lastModifiedBy>
  <cp:revision>8</cp:revision>
  <dcterms:created xsi:type="dcterms:W3CDTF">2026-01-15T12:11:17Z</dcterms:created>
  <dcterms:modified xsi:type="dcterms:W3CDTF">2026-03-28T02:10:42Z</dcterms:modified>
</cp:coreProperties>
</file>